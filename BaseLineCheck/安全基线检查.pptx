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8" r:id="rId4"/>
    <p:sldId id="261" r:id="rId5"/>
    <p:sldId id="262" r:id="rId6"/>
    <p:sldId id="264" r:id="rId7"/>
    <p:sldId id="265" r:id="rId8"/>
    <p:sldId id="266" r:id="rId9"/>
    <p:sldId id="269" r:id="rId10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7" userDrawn="1">
          <p15:clr>
            <a:srgbClr val="A4A3A4"/>
          </p15:clr>
        </p15:guide>
        <p15:guide id="4" orient="horz" pos="755" userDrawn="1">
          <p15:clr>
            <a:srgbClr val="A4A3A4"/>
          </p15:clr>
        </p15:guide>
        <p15:guide id="5" orient="horz" pos="3941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60" d="100"/>
          <a:sy n="60" d="100"/>
        </p:scale>
        <p:origin x="132" y="264"/>
      </p:cViewPr>
      <p:guideLst>
        <p:guide pos="416"/>
        <p:guide pos="7256"/>
        <p:guide orient="horz" pos="647"/>
        <p:guide orient="horz" pos="755"/>
        <p:guide orient="horz" pos="3941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8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264AA-CD2A-4DAC-AC06-73DC0FD5C0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4C312-7244-4728-9CDC-44CF1C3633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 descr="c6f43eac-a592-40b6-a362-f9d179915444"/>
          <p:cNvGrpSpPr/>
          <p:nvPr/>
        </p:nvGrpSpPr>
        <p:grpSpPr>
          <a:xfrm>
            <a:off x="0" y="-1"/>
            <a:ext cx="12177811" cy="6859420"/>
            <a:chOff x="0" y="-1"/>
            <a:chExt cx="12177811" cy="6859420"/>
          </a:xfrm>
        </p:grpSpPr>
        <p:pic>
          <p:nvPicPr>
            <p:cNvPr id="7" name="图片 6" descr="0e28d807-3eb8-4e33-a912-c0117e965bb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0" y="-1"/>
              <a:ext cx="12177811" cy="6859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椭圆 7" descr="9b458e59-3f7a-4921-a0c1-ada0aebe2aa8"/>
            <p:cNvSpPr>
              <a:spLocks noChangeArrowheads="1"/>
            </p:cNvSpPr>
            <p:nvPr/>
          </p:nvSpPr>
          <p:spPr bwMode="auto">
            <a:xfrm>
              <a:off x="10184137" y="1132248"/>
              <a:ext cx="87979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椭圆 8" descr="16c65383-85c9-4d9c-98b2-edb38b268456"/>
            <p:cNvSpPr>
              <a:spLocks noChangeArrowheads="1"/>
            </p:cNvSpPr>
            <p:nvPr/>
          </p:nvSpPr>
          <p:spPr bwMode="auto">
            <a:xfrm>
              <a:off x="10232382" y="1529566"/>
              <a:ext cx="79464" cy="794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椭圆 9" descr="47a9037f-301f-4b48-a5a9-19e55ac34162"/>
            <p:cNvSpPr>
              <a:spLocks noChangeArrowheads="1"/>
            </p:cNvSpPr>
            <p:nvPr/>
          </p:nvSpPr>
          <p:spPr bwMode="auto">
            <a:xfrm>
              <a:off x="10042237" y="1447264"/>
              <a:ext cx="62436" cy="624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椭圆 10" descr="d032fb92-a1e5-4445-bea9-900aa8d06d32"/>
            <p:cNvSpPr>
              <a:spLocks noChangeArrowheads="1"/>
            </p:cNvSpPr>
            <p:nvPr/>
          </p:nvSpPr>
          <p:spPr bwMode="auto">
            <a:xfrm>
              <a:off x="10445232" y="445454"/>
              <a:ext cx="34056" cy="4257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椭圆 11" descr="24f6798e-c0a6-43f4-93b9-c705b58c44b7"/>
            <p:cNvSpPr>
              <a:spLocks noChangeArrowheads="1"/>
            </p:cNvSpPr>
            <p:nvPr/>
          </p:nvSpPr>
          <p:spPr bwMode="auto">
            <a:xfrm>
              <a:off x="10104673" y="876829"/>
              <a:ext cx="39732" cy="397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椭圆 12" descr="7f94fa51-f3bc-4999-8908-011edde0714b"/>
            <p:cNvSpPr>
              <a:spLocks noChangeArrowheads="1"/>
            </p:cNvSpPr>
            <p:nvPr/>
          </p:nvSpPr>
          <p:spPr bwMode="auto">
            <a:xfrm>
              <a:off x="10802818" y="204224"/>
              <a:ext cx="85140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椭圆 13" descr="4148d3b1-57e6-404b-a9f9-4d792393817c"/>
            <p:cNvSpPr>
              <a:spLocks noChangeArrowheads="1"/>
            </p:cNvSpPr>
            <p:nvPr/>
          </p:nvSpPr>
          <p:spPr bwMode="auto">
            <a:xfrm>
              <a:off x="10981611" y="675331"/>
              <a:ext cx="150414" cy="1475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椭圆 14" descr="61dcec47-2093-426f-91af-979b274d8e3c"/>
            <p:cNvSpPr>
              <a:spLocks noChangeArrowheads="1"/>
            </p:cNvSpPr>
            <p:nvPr/>
          </p:nvSpPr>
          <p:spPr bwMode="auto">
            <a:xfrm>
              <a:off x="10655243" y="1058460"/>
              <a:ext cx="113520" cy="12203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椭圆 15" descr="1b7ba576-3562-4a3f-9fc9-c6a399962780"/>
            <p:cNvSpPr>
              <a:spLocks noChangeArrowheads="1"/>
            </p:cNvSpPr>
            <p:nvPr/>
          </p:nvSpPr>
          <p:spPr bwMode="auto">
            <a:xfrm>
              <a:off x="10842550" y="1416047"/>
              <a:ext cx="59599" cy="595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椭圆 16" descr="cbf1c9df-bec9-4e30-9f81-be682a0270a3"/>
            <p:cNvSpPr>
              <a:spLocks noChangeArrowheads="1"/>
            </p:cNvSpPr>
            <p:nvPr/>
          </p:nvSpPr>
          <p:spPr bwMode="auto">
            <a:xfrm>
              <a:off x="10533209" y="1589163"/>
              <a:ext cx="93655" cy="9365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椭圆 17" descr="d4127da9-33d2-4e9c-9d61-2b8b91367cc9"/>
            <p:cNvSpPr>
              <a:spLocks noChangeArrowheads="1"/>
            </p:cNvSpPr>
            <p:nvPr/>
          </p:nvSpPr>
          <p:spPr bwMode="auto">
            <a:xfrm>
              <a:off x="10379957" y="1853097"/>
              <a:ext cx="85140" cy="851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椭圆 18" descr="d2465b72-102b-4042-bb23-5ced43b4db96"/>
            <p:cNvSpPr>
              <a:spLocks noChangeArrowheads="1"/>
            </p:cNvSpPr>
            <p:nvPr/>
          </p:nvSpPr>
          <p:spPr bwMode="auto">
            <a:xfrm>
              <a:off x="11191622" y="1731062"/>
              <a:ext cx="127710" cy="12203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 descr="7f544481-f7cb-43fa-aecb-9c0b4c190fe7"/>
          <p:cNvSpPr>
            <a:spLocks noGrp="1"/>
          </p:cNvSpPr>
          <p:nvPr>
            <p:ph type="ctrTitle" hasCustomPrompt="1"/>
          </p:nvPr>
        </p:nvSpPr>
        <p:spPr>
          <a:xfrm>
            <a:off x="2248661" y="1130300"/>
            <a:ext cx="7694678" cy="2582718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 descr="7c37315b-f8e4-4e28-8ba2-e38023260ee7"/>
          <p:cNvSpPr>
            <a:spLocks noGrp="1"/>
          </p:cNvSpPr>
          <p:nvPr>
            <p:ph type="subTitle" idx="1" hasCustomPrompt="1"/>
          </p:nvPr>
        </p:nvSpPr>
        <p:spPr>
          <a:xfrm>
            <a:off x="2248661" y="3713018"/>
            <a:ext cx="7694678" cy="121823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 descr="3fc42525-b2b4-4843-933b-f03859475c66"/>
          <p:cNvSpPr>
            <a:spLocks noGrp="1"/>
          </p:cNvSpPr>
          <p:nvPr>
            <p:ph type="body" sz="quarter" idx="13" hasCustomPrompt="1"/>
          </p:nvPr>
        </p:nvSpPr>
        <p:spPr>
          <a:xfrm>
            <a:off x="3870037" y="5437676"/>
            <a:ext cx="4451927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c36fb3c0-f5c6-4575-8437-3fe2e8e808fa"/>
          <p:cNvSpPr>
            <a:spLocks noGrp="1"/>
          </p:cNvSpPr>
          <p:nvPr>
            <p:ph type="body" sz="quarter" idx="14" hasCustomPrompt="1"/>
          </p:nvPr>
        </p:nvSpPr>
        <p:spPr>
          <a:xfrm>
            <a:off x="3870037" y="5711996"/>
            <a:ext cx="4451927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494c41b3-2794-4d19-8814-c420e7eafd3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 descr="27c7bf1b-2b48-4b7e-a504-f0df9087985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67f2d3b1-285b-4539-af25-008e77f8fb0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a65c5948-41b8-461a-b4ce-af46b332eb2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61cf1569-c6d6-4f27-bb1a-4b2d5d2b58f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1316acc-7db7-48f0-be64-5faf471e7d7d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 descr="5d6555e4-f882-4ccd-81db-0dabbf0ec609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 descr="895ee1ee-506b-43e6-a2f9-a449aee39d4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ee509f5b-9631-471d-93eb-408c418a34dd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38aedcfc-f561-464d-a0ae-fd6f19c15f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 descr="1fa12b16-3b8c-4397-b375-03ab3200ccfd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f5ecddf9-389c-4599-a0cc-90f3a7386d6e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 descr="ed61772f-be07-4e1e-88be-6356a5905e27"/>
          <p:cNvGrpSpPr/>
          <p:nvPr/>
        </p:nvGrpSpPr>
        <p:grpSpPr>
          <a:xfrm flipH="1">
            <a:off x="0" y="-1"/>
            <a:ext cx="12177811" cy="6859420"/>
            <a:chOff x="0" y="-1"/>
            <a:chExt cx="12177811" cy="6859420"/>
          </a:xfrm>
        </p:grpSpPr>
        <p:pic>
          <p:nvPicPr>
            <p:cNvPr id="8" name="图片 7" descr="18494500-ebdb-47ed-bfe3-5d65686ca15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0" y="-1"/>
              <a:ext cx="12177811" cy="6859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椭圆 8" descr="95a2d858-7cfb-45a8-a75e-926f9cafe548"/>
            <p:cNvSpPr>
              <a:spLocks noChangeArrowheads="1"/>
            </p:cNvSpPr>
            <p:nvPr/>
          </p:nvSpPr>
          <p:spPr bwMode="auto">
            <a:xfrm>
              <a:off x="10184137" y="1132248"/>
              <a:ext cx="87979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椭圆 9" descr="cad92d57-3ef4-4f74-b852-afccf45c74a7"/>
            <p:cNvSpPr>
              <a:spLocks noChangeArrowheads="1"/>
            </p:cNvSpPr>
            <p:nvPr/>
          </p:nvSpPr>
          <p:spPr bwMode="auto">
            <a:xfrm>
              <a:off x="10232382" y="1529566"/>
              <a:ext cx="79464" cy="794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椭圆 10" descr="7ddf55e1-0770-44b9-8df7-4fe769e2e11b"/>
            <p:cNvSpPr>
              <a:spLocks noChangeArrowheads="1"/>
            </p:cNvSpPr>
            <p:nvPr/>
          </p:nvSpPr>
          <p:spPr bwMode="auto">
            <a:xfrm>
              <a:off x="10042237" y="1447264"/>
              <a:ext cx="62436" cy="624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椭圆 11" descr="de9d4ff2-dfd7-406c-b0a1-eb7217d37740"/>
            <p:cNvSpPr>
              <a:spLocks noChangeArrowheads="1"/>
            </p:cNvSpPr>
            <p:nvPr/>
          </p:nvSpPr>
          <p:spPr bwMode="auto">
            <a:xfrm>
              <a:off x="10445232" y="445454"/>
              <a:ext cx="34056" cy="4257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椭圆 12" descr="44a67c19-e9df-4fb4-b17a-49c876e6478b"/>
            <p:cNvSpPr>
              <a:spLocks noChangeArrowheads="1"/>
            </p:cNvSpPr>
            <p:nvPr/>
          </p:nvSpPr>
          <p:spPr bwMode="auto">
            <a:xfrm>
              <a:off x="10104673" y="876829"/>
              <a:ext cx="39732" cy="397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椭圆 13" descr="2d144eed-becb-4533-8476-874ea4e50c3c"/>
            <p:cNvSpPr>
              <a:spLocks noChangeArrowheads="1"/>
            </p:cNvSpPr>
            <p:nvPr/>
          </p:nvSpPr>
          <p:spPr bwMode="auto">
            <a:xfrm>
              <a:off x="10802818" y="204224"/>
              <a:ext cx="85140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椭圆 14" descr="2b9ef44f-359b-4794-b5fb-eccda16bb2e6"/>
            <p:cNvSpPr>
              <a:spLocks noChangeArrowheads="1"/>
            </p:cNvSpPr>
            <p:nvPr/>
          </p:nvSpPr>
          <p:spPr bwMode="auto">
            <a:xfrm>
              <a:off x="10981611" y="675331"/>
              <a:ext cx="150414" cy="1475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椭圆 15" descr="a320c3d3-8a5e-4632-871f-751cd4c89295"/>
            <p:cNvSpPr>
              <a:spLocks noChangeArrowheads="1"/>
            </p:cNvSpPr>
            <p:nvPr/>
          </p:nvSpPr>
          <p:spPr bwMode="auto">
            <a:xfrm>
              <a:off x="10655243" y="1058460"/>
              <a:ext cx="113520" cy="12203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椭圆 16" descr="577affe1-af51-4c45-a840-43036c90175a"/>
            <p:cNvSpPr>
              <a:spLocks noChangeArrowheads="1"/>
            </p:cNvSpPr>
            <p:nvPr/>
          </p:nvSpPr>
          <p:spPr bwMode="auto">
            <a:xfrm>
              <a:off x="10842550" y="1416047"/>
              <a:ext cx="59599" cy="595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椭圆 17" descr="c705a3f0-5eaa-40b1-a980-15cf0dfb3050"/>
            <p:cNvSpPr>
              <a:spLocks noChangeArrowheads="1"/>
            </p:cNvSpPr>
            <p:nvPr/>
          </p:nvSpPr>
          <p:spPr bwMode="auto">
            <a:xfrm>
              <a:off x="10533209" y="1589163"/>
              <a:ext cx="93655" cy="9365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椭圆 18" descr="4ae918e6-1f8d-44eb-af4f-895ad0938ec2"/>
            <p:cNvSpPr>
              <a:spLocks noChangeArrowheads="1"/>
            </p:cNvSpPr>
            <p:nvPr/>
          </p:nvSpPr>
          <p:spPr bwMode="auto">
            <a:xfrm>
              <a:off x="10379957" y="1853097"/>
              <a:ext cx="85140" cy="851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椭圆 19" descr="0f8e5272-fa34-4b97-8228-c1d072724bc8"/>
            <p:cNvSpPr>
              <a:spLocks noChangeArrowheads="1"/>
            </p:cNvSpPr>
            <p:nvPr/>
          </p:nvSpPr>
          <p:spPr bwMode="auto">
            <a:xfrm>
              <a:off x="11191622" y="1731062"/>
              <a:ext cx="127710" cy="12203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 descr="abcb02ba-3424-4405-bb18-38f6e4d744f7"/>
          <p:cNvSpPr>
            <a:spLocks noGrp="1"/>
          </p:cNvSpPr>
          <p:nvPr>
            <p:ph type="title" hasCustomPrompt="1"/>
          </p:nvPr>
        </p:nvSpPr>
        <p:spPr>
          <a:xfrm>
            <a:off x="3378200" y="1144692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 descr="daacffd2-d541-4476-933d-39df501c0d50"/>
          <p:cNvSpPr>
            <a:spLocks noGrp="1"/>
          </p:cNvSpPr>
          <p:nvPr>
            <p:ph type="body" idx="1" hasCustomPrompt="1"/>
          </p:nvPr>
        </p:nvSpPr>
        <p:spPr>
          <a:xfrm>
            <a:off x="3378200" y="2521796"/>
            <a:ext cx="5435600" cy="361230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 descr="a6980c15-348c-4db6-930c-43704209ba7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a4c7b7b-7bde-479b-a9dd-add3300c9a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bdde1833-6381-435c-84a4-908bbf6c6e5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cc2a94b-6b45-4990-8a0b-6210fa78cc8d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 descr="f12aac00-dd96-42de-8b84-e70b0c75650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4d2bce80-2cf3-4b1c-a6f0-b34c17f461f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3b3db162-564f-4622-8416-6afa366988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e157280e-97eb-4809-bc1f-97068cfd914f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f21b47ca-0d8d-4b82-a515-6169e6ada9e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3e113093-a6ef-4222-89c2-dd5785f7ae6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 descr="29cd8f76-ecaa-4f5a-a61c-75bb30dfc070"/>
          <p:cNvGrpSpPr/>
          <p:nvPr/>
        </p:nvGrpSpPr>
        <p:grpSpPr>
          <a:xfrm>
            <a:off x="0" y="-1"/>
            <a:ext cx="12177811" cy="6859420"/>
            <a:chOff x="0" y="-1"/>
            <a:chExt cx="12177811" cy="6859420"/>
          </a:xfrm>
        </p:grpSpPr>
        <p:pic>
          <p:nvPicPr>
            <p:cNvPr id="6" name="图片 5" descr="bf3fed7e-9cab-470d-835a-c1f8e50dc1c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0" y="-1"/>
              <a:ext cx="12177811" cy="6859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椭圆 6" descr="8e6a393e-170c-4af6-8f6e-6e80f911e2d4"/>
            <p:cNvSpPr>
              <a:spLocks noChangeArrowheads="1"/>
            </p:cNvSpPr>
            <p:nvPr/>
          </p:nvSpPr>
          <p:spPr bwMode="auto">
            <a:xfrm>
              <a:off x="10184137" y="1132248"/>
              <a:ext cx="87979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椭圆 7" descr="37488295-a51b-462d-a489-95ffd79b3d4d"/>
            <p:cNvSpPr>
              <a:spLocks noChangeArrowheads="1"/>
            </p:cNvSpPr>
            <p:nvPr/>
          </p:nvSpPr>
          <p:spPr bwMode="auto">
            <a:xfrm>
              <a:off x="10232382" y="1529566"/>
              <a:ext cx="79464" cy="794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椭圆 8" descr="1374881a-45b9-4223-8e0b-42a2bc38d1b7"/>
            <p:cNvSpPr>
              <a:spLocks noChangeArrowheads="1"/>
            </p:cNvSpPr>
            <p:nvPr/>
          </p:nvSpPr>
          <p:spPr bwMode="auto">
            <a:xfrm>
              <a:off x="10042237" y="1447264"/>
              <a:ext cx="62436" cy="624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椭圆 9" descr="04b6b4c1-0470-47fd-b83f-188b9a2562c3"/>
            <p:cNvSpPr>
              <a:spLocks noChangeArrowheads="1"/>
            </p:cNvSpPr>
            <p:nvPr/>
          </p:nvSpPr>
          <p:spPr bwMode="auto">
            <a:xfrm>
              <a:off x="10445232" y="445454"/>
              <a:ext cx="34056" cy="4257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椭圆 10" descr="0fcef981-cbad-4978-b8b9-c68220c16b9e"/>
            <p:cNvSpPr>
              <a:spLocks noChangeArrowheads="1"/>
            </p:cNvSpPr>
            <p:nvPr/>
          </p:nvSpPr>
          <p:spPr bwMode="auto">
            <a:xfrm>
              <a:off x="10104673" y="876829"/>
              <a:ext cx="39732" cy="397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椭圆 11" descr="bf0c7409-4941-438c-84ab-9531f6c6c36f"/>
            <p:cNvSpPr>
              <a:spLocks noChangeArrowheads="1"/>
            </p:cNvSpPr>
            <p:nvPr/>
          </p:nvSpPr>
          <p:spPr bwMode="auto">
            <a:xfrm>
              <a:off x="10802818" y="204224"/>
              <a:ext cx="85140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椭圆 12" descr="67d8e5c4-ab84-4b8f-a2c5-cda8436f3cab"/>
            <p:cNvSpPr>
              <a:spLocks noChangeArrowheads="1"/>
            </p:cNvSpPr>
            <p:nvPr/>
          </p:nvSpPr>
          <p:spPr bwMode="auto">
            <a:xfrm>
              <a:off x="10981611" y="675331"/>
              <a:ext cx="150414" cy="1475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椭圆 13" descr="5772d03c-b9de-4cff-a399-f6ecfbcab095"/>
            <p:cNvSpPr>
              <a:spLocks noChangeArrowheads="1"/>
            </p:cNvSpPr>
            <p:nvPr/>
          </p:nvSpPr>
          <p:spPr bwMode="auto">
            <a:xfrm>
              <a:off x="10655243" y="1058460"/>
              <a:ext cx="113520" cy="12203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椭圆 14" descr="9a35f7b3-37e0-406a-952a-1d697f524199"/>
            <p:cNvSpPr>
              <a:spLocks noChangeArrowheads="1"/>
            </p:cNvSpPr>
            <p:nvPr/>
          </p:nvSpPr>
          <p:spPr bwMode="auto">
            <a:xfrm>
              <a:off x="10842550" y="1416047"/>
              <a:ext cx="59599" cy="595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椭圆 15" descr="b88ef217-f0f9-4338-b5ef-063c5a07aa71"/>
            <p:cNvSpPr>
              <a:spLocks noChangeArrowheads="1"/>
            </p:cNvSpPr>
            <p:nvPr/>
          </p:nvSpPr>
          <p:spPr bwMode="auto">
            <a:xfrm>
              <a:off x="10533209" y="1589163"/>
              <a:ext cx="93655" cy="9365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椭圆 16" descr="6bbcf09e-cd54-4434-b9eb-6344eb740658"/>
            <p:cNvSpPr>
              <a:spLocks noChangeArrowheads="1"/>
            </p:cNvSpPr>
            <p:nvPr/>
          </p:nvSpPr>
          <p:spPr bwMode="auto">
            <a:xfrm>
              <a:off x="10379957" y="1853097"/>
              <a:ext cx="85140" cy="851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椭圆 17" descr="1bc17ffa-b700-496d-8ba6-1c4522b01a1e"/>
            <p:cNvSpPr>
              <a:spLocks noChangeArrowheads="1"/>
            </p:cNvSpPr>
            <p:nvPr/>
          </p:nvSpPr>
          <p:spPr bwMode="auto">
            <a:xfrm>
              <a:off x="11191622" y="1731062"/>
              <a:ext cx="127710" cy="12203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 descr="bd56d51e-3c3c-47b5-ada2-a1674c1cf114"/>
          <p:cNvSpPr>
            <a:spLocks noGrp="1"/>
          </p:cNvSpPr>
          <p:nvPr>
            <p:ph type="title" hasCustomPrompt="1"/>
          </p:nvPr>
        </p:nvSpPr>
        <p:spPr>
          <a:xfrm>
            <a:off x="3320473" y="1971514"/>
            <a:ext cx="5551054" cy="28083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 descr="005fc339-84ee-4988-962d-ae27872e00c7"/>
          <p:cNvSpPr>
            <a:spLocks noGrp="1"/>
          </p:cNvSpPr>
          <p:nvPr>
            <p:ph type="body" sz="quarter" idx="13" hasCustomPrompt="1"/>
          </p:nvPr>
        </p:nvSpPr>
        <p:spPr>
          <a:xfrm>
            <a:off x="3320473" y="4911206"/>
            <a:ext cx="5551054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 descr="668b9c06-9143-4d0b-aa44-e7405bb9dfbe"/>
          <p:cNvSpPr>
            <a:spLocks noGrp="1"/>
          </p:cNvSpPr>
          <p:nvPr>
            <p:ph type="body" sz="quarter" idx="14" hasCustomPrompt="1"/>
          </p:nvPr>
        </p:nvSpPr>
        <p:spPr>
          <a:xfrm>
            <a:off x="3320473" y="5185526"/>
            <a:ext cx="5551054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image" Target="../media/image3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7f544481-f7cb-43fa-aecb-9c0b4c190fe7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r>
              <a:rPr lang="zh-CN" altLang="en-US" dirty="0"/>
              <a:t>安全基线检查工具</a:t>
            </a:r>
            <a:endParaRPr lang="en-US" dirty="0"/>
          </a:p>
        </p:txBody>
      </p:sp>
      <p:sp>
        <p:nvSpPr>
          <p:cNvPr id="3" name="副标题 2" descr="7c37315b-f8e4-4e28-8ba2-e38023260ee7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r>
              <a:rPr lang="zh-CN" altLang="en-US" dirty="0"/>
              <a:t>保障系统安全的重要工具</a:t>
            </a:r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bcb02ba-3424-4405-bb18-38f6e4d744f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工具概述</a:t>
            </a:r>
            <a:endParaRPr lang="en-US" dirty="0"/>
          </a:p>
        </p:txBody>
      </p:sp>
      <p:sp>
        <p:nvSpPr>
          <p:cNvPr id="3" name="文本占位符 2" descr="daacffd2-d541-4476-933d-39df501c0d50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r>
              <a:rPr lang="zh-CN" altLang="en-US" dirty="0"/>
              <a:t>了解安全基线检查工具的基本情况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cc2a94b-6b45-4990-8a0b-6210fa78cc8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工具详情</a:t>
            </a:r>
            <a:endParaRPr lang="en-US" dirty="0"/>
          </a:p>
        </p:txBody>
      </p:sp>
      <p:grpSp>
        <p:nvGrpSpPr>
          <p:cNvPr id="3" name="6e293a3c-1c23-4908-b9eb-d7e770c59616.source.3.zh-Hans.pptx" descr="7b533f8c-babe-48fe-9723-b0f44f6b7e79"/>
          <p:cNvGrpSpPr/>
          <p:nvPr/>
        </p:nvGrpSpPr>
        <p:grpSpPr>
          <a:xfrm>
            <a:off x="660400" y="1974466"/>
            <a:ext cx="10858499" cy="4159634"/>
            <a:chOff x="660400" y="1974466"/>
            <a:chExt cx="10858499" cy="4159634"/>
          </a:xfrm>
        </p:grpSpPr>
        <p:grpSp>
          <p:nvGrpSpPr>
            <p:cNvPr id="18" name="组合 17" descr="90eb8dc5-9328-45c4-9136-90d07671d400"/>
            <p:cNvGrpSpPr/>
            <p:nvPr/>
          </p:nvGrpSpPr>
          <p:grpSpPr>
            <a:xfrm>
              <a:off x="660400" y="1974466"/>
              <a:ext cx="5212469" cy="1970398"/>
              <a:chOff x="660400" y="1974466"/>
              <a:chExt cx="5212469" cy="1970398"/>
            </a:xfrm>
          </p:grpSpPr>
          <p:sp>
            <p:nvSpPr>
              <p:cNvPr id="4" name="Shape1" descr="a30d8ea9-439f-4b41-a9a5-8de3a381355d"/>
              <p:cNvSpPr/>
              <p:nvPr/>
            </p:nvSpPr>
            <p:spPr>
              <a:xfrm>
                <a:off x="660400" y="2388003"/>
                <a:ext cx="767922" cy="767922"/>
              </a:xfrm>
              <a:custGeom>
                <a:avLst/>
                <a:gdLst>
                  <a:gd name="connsiteX0" fmla="*/ 616817 w 616816"/>
                  <a:gd name="connsiteY0" fmla="*/ 308408 h 616816"/>
                  <a:gd name="connsiteX1" fmla="*/ 308408 w 616816"/>
                  <a:gd name="connsiteY1" fmla="*/ 616817 h 616816"/>
                  <a:gd name="connsiteX2" fmla="*/ 0 w 616816"/>
                  <a:gd name="connsiteY2" fmla="*/ 308408 h 616816"/>
                  <a:gd name="connsiteX3" fmla="*/ 308408 w 616816"/>
                  <a:gd name="connsiteY3" fmla="*/ 0 h 616816"/>
                  <a:gd name="connsiteX4" fmla="*/ 616817 w 616816"/>
                  <a:gd name="connsiteY4" fmla="*/ 308408 h 616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6816" h="616816">
                    <a:moveTo>
                      <a:pt x="616817" y="308408"/>
                    </a:moveTo>
                    <a:cubicBezTo>
                      <a:pt x="616817" y="478738"/>
                      <a:pt x="478738" y="616817"/>
                      <a:pt x="308408" y="616817"/>
                    </a:cubicBezTo>
                    <a:cubicBezTo>
                      <a:pt x="138079" y="616817"/>
                      <a:pt x="0" y="478738"/>
                      <a:pt x="0" y="308408"/>
                    </a:cubicBezTo>
                    <a:cubicBezTo>
                      <a:pt x="0" y="138079"/>
                      <a:pt x="138079" y="0"/>
                      <a:pt x="308408" y="0"/>
                    </a:cubicBezTo>
                    <a:cubicBezTo>
                      <a:pt x="478738" y="0"/>
                      <a:pt x="616817" y="138079"/>
                      <a:pt x="616817" y="308408"/>
                    </a:cubicBezTo>
                    <a:close/>
                  </a:path>
                </a:pathLst>
              </a:custGeom>
              <a:noFill/>
              <a:ln w="25400" cap="flat">
                <a:solidFill>
                  <a:schemeClr val="accent1">
                    <a:alpha val="50000"/>
                  </a:schemeClr>
                </a:solidFill>
                <a:custDash>
                  <a:ds d="299085" sp="149543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 sz="200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8" name="Number1" descr="34549f37-7968-4a82-8fc7-67e82123f63e"/>
              <p:cNvSpPr txBox="1"/>
              <p:nvPr/>
            </p:nvSpPr>
            <p:spPr>
              <a:xfrm>
                <a:off x="743405" y="2475553"/>
                <a:ext cx="601912" cy="592823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0000">
                    <a:schemeClr val="accent1"/>
                  </a:gs>
                </a:gsLst>
                <a:lin ang="2700000" scaled="0"/>
              </a:gra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en-US"/>
                </a:defPPr>
                <a:lvl1pPr algn="ctr">
                  <a:defRPr kumimoji="1" b="1">
                    <a:solidFill>
                      <a:srgbClr val="FFFFFF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ym typeface="Arial" panose="020B0604020202020204" pitchFamily="34" charset="0"/>
                  </a:rPr>
                  <a:t>1</a:t>
                </a:r>
                <a:endParaRPr lang="zh-CN" altLang="en-US" dirty="0">
                  <a:sym typeface="Arial" panose="020B0604020202020204" pitchFamily="34" charset="0"/>
                </a:endParaRPr>
              </a:p>
            </p:txBody>
          </p:sp>
          <p:sp>
            <p:nvSpPr>
              <p:cNvPr id="13" name="Bullet1" descr="52f88ed0-5bb3-4283-8567-3b08387da17d"/>
              <p:cNvSpPr/>
              <p:nvPr/>
            </p:nvSpPr>
            <p:spPr>
              <a:xfrm>
                <a:off x="1470370" y="1974466"/>
                <a:ext cx="4402499" cy="8902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</a:rPr>
                  <a:t>SecurityCheck_v5.exe</a:t>
                </a:r>
                <a:endParaRPr lang="en-US" dirty="0"/>
              </a:p>
            </p:txBody>
          </p:sp>
          <p:sp>
            <p:nvSpPr>
              <p:cNvPr id="14" name="Text1" descr="fea9e9a9-fde0-4ac4-ab56-21b41934b08e"/>
              <p:cNvSpPr/>
              <p:nvPr/>
            </p:nvSpPr>
            <p:spPr>
              <a:xfrm>
                <a:off x="1470369" y="2864699"/>
                <a:ext cx="4402499" cy="1080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200" dirty="0">
                    <a:solidFill>
                      <a:schemeClr val="tx1"/>
                    </a:solidFill>
                  </a:rPr>
                  <a:t>powershell</a:t>
                </a:r>
                <a:r>
                  <a:rPr kumimoji="1" lang="zh-CN" altLang="en-US" sz="1200" dirty="0">
                    <a:solidFill>
                      <a:schemeClr val="tx1"/>
                    </a:solidFill>
                  </a:rPr>
                  <a:t>脚本打包而成</a:t>
                </a:r>
                <a:r>
                  <a:rPr kumimoji="1" lang="en-US" altLang="zh-CN" sz="1200" dirty="0">
                    <a:solidFill>
                      <a:schemeClr val="tx1"/>
                    </a:solidFill>
                  </a:rPr>
                  <a:t>，</a:t>
                </a:r>
                <a:r>
                  <a:rPr kumimoji="1" lang="zh-CN" altLang="en-US" sz="1200" dirty="0">
                    <a:solidFill>
                      <a:schemeClr val="tx1"/>
                    </a:solidFill>
                    <a:sym typeface="+mn-ea"/>
                  </a:rPr>
                  <a:t>依赖某些系统库</a:t>
                </a:r>
                <a:r>
                  <a:rPr kumimoji="1" lang="en-US" altLang="zh-CN" sz="1200" dirty="0">
                    <a:solidFill>
                      <a:schemeClr val="tx1"/>
                    </a:solidFill>
                    <a:sym typeface="+mn-ea"/>
                  </a:rPr>
                  <a:t>，</a:t>
                </a: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全面的安全基线检测工具，提供整改</a:t>
                </a:r>
                <a:r>
                  <a:rPr kumimoji="1" lang="zh-CN" altLang="en-US" sz="1200" dirty="0">
                    <a:solidFill>
                      <a:schemeClr val="tx1"/>
                    </a:solidFill>
                  </a:rPr>
                  <a:t>方法。</a:t>
                </a:r>
                <a:endParaRPr lang="en-US" dirty="0"/>
              </a:p>
            </p:txBody>
          </p:sp>
        </p:grpSp>
        <p:grpSp>
          <p:nvGrpSpPr>
            <p:cNvPr id="19" name="组合 18" descr="b7273040-8047-4ff2-9cf1-879c492e32d7"/>
            <p:cNvGrpSpPr/>
            <p:nvPr/>
          </p:nvGrpSpPr>
          <p:grpSpPr>
            <a:xfrm>
              <a:off x="6306431" y="1974466"/>
              <a:ext cx="5212468" cy="1970398"/>
              <a:chOff x="6306431" y="1974466"/>
              <a:chExt cx="5212468" cy="1970398"/>
            </a:xfrm>
          </p:grpSpPr>
          <p:sp>
            <p:nvSpPr>
              <p:cNvPr id="61" name="Shape2" descr="c02831fe-c257-44e4-9bd9-b8f0df8c21a1"/>
              <p:cNvSpPr/>
              <p:nvPr/>
            </p:nvSpPr>
            <p:spPr>
              <a:xfrm>
                <a:off x="6306431" y="2388003"/>
                <a:ext cx="767922" cy="767922"/>
              </a:xfrm>
              <a:custGeom>
                <a:avLst/>
                <a:gdLst>
                  <a:gd name="connsiteX0" fmla="*/ 616817 w 616816"/>
                  <a:gd name="connsiteY0" fmla="*/ 308408 h 616816"/>
                  <a:gd name="connsiteX1" fmla="*/ 308408 w 616816"/>
                  <a:gd name="connsiteY1" fmla="*/ 616817 h 616816"/>
                  <a:gd name="connsiteX2" fmla="*/ 0 w 616816"/>
                  <a:gd name="connsiteY2" fmla="*/ 308408 h 616816"/>
                  <a:gd name="connsiteX3" fmla="*/ 308408 w 616816"/>
                  <a:gd name="connsiteY3" fmla="*/ 0 h 616816"/>
                  <a:gd name="connsiteX4" fmla="*/ 616817 w 616816"/>
                  <a:gd name="connsiteY4" fmla="*/ 308408 h 616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6816" h="616816">
                    <a:moveTo>
                      <a:pt x="616817" y="308408"/>
                    </a:moveTo>
                    <a:cubicBezTo>
                      <a:pt x="616817" y="478738"/>
                      <a:pt x="478738" y="616817"/>
                      <a:pt x="308408" y="616817"/>
                    </a:cubicBezTo>
                    <a:cubicBezTo>
                      <a:pt x="138079" y="616817"/>
                      <a:pt x="0" y="478738"/>
                      <a:pt x="0" y="308408"/>
                    </a:cubicBezTo>
                    <a:cubicBezTo>
                      <a:pt x="0" y="138079"/>
                      <a:pt x="138079" y="0"/>
                      <a:pt x="308408" y="0"/>
                    </a:cubicBezTo>
                    <a:cubicBezTo>
                      <a:pt x="478738" y="0"/>
                      <a:pt x="616817" y="138079"/>
                      <a:pt x="616817" y="308408"/>
                    </a:cubicBezTo>
                    <a:close/>
                  </a:path>
                </a:pathLst>
              </a:custGeom>
              <a:noFill/>
              <a:ln w="25400" cap="flat">
                <a:solidFill>
                  <a:schemeClr val="accent2">
                    <a:alpha val="50000"/>
                  </a:schemeClr>
                </a:solidFill>
                <a:custDash>
                  <a:ds d="299085" sp="149543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 sz="200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Number2" descr="bf26ad5e-a3cc-4088-a021-869e0d455ac5"/>
              <p:cNvSpPr txBox="1"/>
              <p:nvPr/>
            </p:nvSpPr>
            <p:spPr>
              <a:xfrm>
                <a:off x="6389436" y="2475553"/>
                <a:ext cx="601912" cy="592823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50000">
                    <a:schemeClr val="accent2"/>
                  </a:gs>
                </a:gsLst>
                <a:lin ang="2700000" scaled="0"/>
              </a:gra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en-US"/>
                </a:defPPr>
                <a:lvl1pPr algn="ctr">
                  <a:defRPr kumimoji="1" b="1">
                    <a:solidFill>
                      <a:srgbClr val="FFFFFF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ym typeface="Arial" panose="020B0604020202020204" pitchFamily="34" charset="0"/>
                  </a:rPr>
                  <a:t>2</a:t>
                </a:r>
                <a:endParaRPr lang="zh-CN" altLang="en-US" dirty="0">
                  <a:sym typeface="Arial" panose="020B0604020202020204" pitchFamily="34" charset="0"/>
                </a:endParaRPr>
              </a:p>
            </p:txBody>
          </p:sp>
          <p:sp>
            <p:nvSpPr>
              <p:cNvPr id="59" name="Bullet2" descr="74c09c73-27cc-4736-9078-1840a5bd7145"/>
              <p:cNvSpPr/>
              <p:nvPr/>
            </p:nvSpPr>
            <p:spPr>
              <a:xfrm>
                <a:off x="7116400" y="1974466"/>
                <a:ext cx="4402499" cy="8902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</a:rPr>
                  <a:t>checkline_requirePython.exe</a:t>
                </a:r>
                <a:endParaRPr lang="en-US" dirty="0"/>
              </a:p>
            </p:txBody>
          </p:sp>
          <p:sp>
            <p:nvSpPr>
              <p:cNvPr id="60" name="Text2" descr="e12333d0-b49d-4fcd-824c-2f6c00161595"/>
              <p:cNvSpPr/>
              <p:nvPr/>
            </p:nvSpPr>
            <p:spPr>
              <a:xfrm>
                <a:off x="7116400" y="2864699"/>
                <a:ext cx="4402499" cy="1080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200" dirty="0">
                    <a:solidFill>
                      <a:schemeClr val="tx1"/>
                    </a:solidFill>
                  </a:rPr>
                  <a:t>python</a:t>
                </a:r>
                <a:r>
                  <a:rPr kumimoji="1" lang="zh-CN" altLang="en-US" sz="1200" dirty="0">
                    <a:solidFill>
                      <a:schemeClr val="tx1"/>
                    </a:solidFill>
                  </a:rPr>
                  <a:t>脚本打包而成</a:t>
                </a:r>
                <a:r>
                  <a:rPr kumimoji="1" lang="en-US" altLang="zh-CN" sz="1200" dirty="0">
                    <a:solidFill>
                      <a:schemeClr val="tx1"/>
                    </a:solidFill>
                  </a:rPr>
                  <a:t>，</a:t>
                </a:r>
                <a:r>
                  <a:rPr kumimoji="1" lang="zh-CN" altLang="en-US" sz="1200" dirty="0">
                    <a:solidFill>
                      <a:schemeClr val="tx1"/>
                    </a:solidFill>
                  </a:rPr>
                  <a:t>依赖某些系统</a:t>
                </a:r>
                <a:r>
                  <a:rPr kumimoji="1" lang="zh-CN" altLang="en-US" sz="1200" dirty="0">
                    <a:solidFill>
                      <a:schemeClr val="tx1"/>
                    </a:solidFill>
                  </a:rPr>
                  <a:t>库，检测速度快，但部分功能依赖系统。</a:t>
                </a:r>
                <a:endParaRPr lang="en-US" dirty="0"/>
              </a:p>
            </p:txBody>
          </p:sp>
        </p:grpSp>
        <p:grpSp>
          <p:nvGrpSpPr>
            <p:cNvPr id="20" name="组合 19" descr="aa2cf121-5550-474c-8cd6-88d5e2472afd"/>
            <p:cNvGrpSpPr/>
            <p:nvPr/>
          </p:nvGrpSpPr>
          <p:grpSpPr>
            <a:xfrm>
              <a:off x="3489766" y="4163702"/>
              <a:ext cx="5212469" cy="1970398"/>
              <a:chOff x="3489766" y="4163702"/>
              <a:chExt cx="5212469" cy="1970398"/>
            </a:xfrm>
          </p:grpSpPr>
          <p:sp>
            <p:nvSpPr>
              <p:cNvPr id="355" name="Shape3" descr="d7f41f5f-5228-4aac-ac1a-ea47ae5bfc6c"/>
              <p:cNvSpPr/>
              <p:nvPr/>
            </p:nvSpPr>
            <p:spPr>
              <a:xfrm>
                <a:off x="3489766" y="4577239"/>
                <a:ext cx="767922" cy="767922"/>
              </a:xfrm>
              <a:custGeom>
                <a:avLst/>
                <a:gdLst>
                  <a:gd name="connsiteX0" fmla="*/ 616817 w 616816"/>
                  <a:gd name="connsiteY0" fmla="*/ 308408 h 616816"/>
                  <a:gd name="connsiteX1" fmla="*/ 308408 w 616816"/>
                  <a:gd name="connsiteY1" fmla="*/ 616817 h 616816"/>
                  <a:gd name="connsiteX2" fmla="*/ 0 w 616816"/>
                  <a:gd name="connsiteY2" fmla="*/ 308408 h 616816"/>
                  <a:gd name="connsiteX3" fmla="*/ 308408 w 616816"/>
                  <a:gd name="connsiteY3" fmla="*/ 0 h 616816"/>
                  <a:gd name="connsiteX4" fmla="*/ 616817 w 616816"/>
                  <a:gd name="connsiteY4" fmla="*/ 308408 h 616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6816" h="616816">
                    <a:moveTo>
                      <a:pt x="616817" y="308408"/>
                    </a:moveTo>
                    <a:cubicBezTo>
                      <a:pt x="616817" y="478738"/>
                      <a:pt x="478738" y="616817"/>
                      <a:pt x="308408" y="616817"/>
                    </a:cubicBezTo>
                    <a:cubicBezTo>
                      <a:pt x="138079" y="616817"/>
                      <a:pt x="0" y="478738"/>
                      <a:pt x="0" y="308408"/>
                    </a:cubicBezTo>
                    <a:cubicBezTo>
                      <a:pt x="0" y="138079"/>
                      <a:pt x="138079" y="0"/>
                      <a:pt x="308408" y="0"/>
                    </a:cubicBezTo>
                    <a:cubicBezTo>
                      <a:pt x="478738" y="0"/>
                      <a:pt x="616817" y="138079"/>
                      <a:pt x="616817" y="308408"/>
                    </a:cubicBezTo>
                    <a:close/>
                  </a:path>
                </a:pathLst>
              </a:custGeom>
              <a:noFill/>
              <a:ln w="25400" cap="flat">
                <a:solidFill>
                  <a:schemeClr val="accent3">
                    <a:alpha val="50000"/>
                  </a:schemeClr>
                </a:solidFill>
                <a:custDash>
                  <a:ds d="299085" sp="149543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 sz="200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6" name="Number3" descr="2dff2e49-99b8-40ae-81e4-f0ef79082910"/>
              <p:cNvSpPr txBox="1"/>
              <p:nvPr/>
            </p:nvSpPr>
            <p:spPr>
              <a:xfrm>
                <a:off x="3572771" y="4664789"/>
                <a:ext cx="601912" cy="592823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50000">
                    <a:schemeClr val="accent3"/>
                  </a:gs>
                </a:gsLst>
                <a:lin ang="2700000" scaled="0"/>
              </a:gra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en-US"/>
                </a:defPPr>
                <a:lvl1pPr algn="ctr">
                  <a:defRPr kumimoji="1" b="1">
                    <a:solidFill>
                      <a:srgbClr val="FFFFFF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dirty="0">
                    <a:sym typeface="Arial" panose="020B0604020202020204" pitchFamily="34" charset="0"/>
                  </a:rPr>
                  <a:t>3</a:t>
                </a:r>
                <a:endParaRPr lang="zh-CN" altLang="en-US" dirty="0">
                  <a:sym typeface="Arial" panose="020B0604020202020204" pitchFamily="34" charset="0"/>
                </a:endParaRPr>
              </a:p>
            </p:txBody>
          </p:sp>
          <p:sp>
            <p:nvSpPr>
              <p:cNvPr id="353" name="Bullet3" descr="0b9f81a7-9bbc-42e5-9b7e-829ddf67ab4d"/>
              <p:cNvSpPr/>
              <p:nvPr/>
            </p:nvSpPr>
            <p:spPr>
              <a:xfrm>
                <a:off x="4299736" y="4163702"/>
                <a:ext cx="4402499" cy="8902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zh-CN" altLang="en-US" b="1" dirty="0">
                    <a:solidFill>
                      <a:schemeClr val="tx1"/>
                    </a:solidFill>
                  </a:rPr>
                  <a:t>工具对比</a:t>
                </a:r>
                <a:endParaRPr lang="en-US" dirty="0"/>
              </a:p>
            </p:txBody>
          </p:sp>
          <p:sp>
            <p:nvSpPr>
              <p:cNvPr id="354" name="Text3" descr="cd775bc6-71dd-41e7-938e-d00a556b2f2f"/>
              <p:cNvSpPr/>
              <p:nvPr/>
            </p:nvSpPr>
            <p:spPr>
              <a:xfrm>
                <a:off x="4299735" y="5053935"/>
                <a:ext cx="4402499" cy="1080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两者功能相近，但依赖环境不同，检测速度有差异。</a:t>
                </a:r>
                <a:endParaRPr lang="en-US" dirty="0"/>
              </a:p>
            </p:txBody>
          </p:sp>
        </p:grp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bcb02ba-3424-4405-bb18-38f6e4d744f7"/>
          <p:cNvSpPr>
            <a:spLocks noGrp="1"/>
          </p:cNvSpPr>
          <p:nvPr>
            <p:ph type="title" hasCustomPrompt="1"/>
          </p:nvPr>
        </p:nvSpPr>
        <p:spPr>
          <a:xfrm>
            <a:off x="3562350" y="-414868"/>
            <a:ext cx="5435600" cy="1371600"/>
          </a:xfrm>
        </p:spPr>
        <p:txBody>
          <a:bodyPr/>
          <a:lstStyle/>
          <a:p>
            <a:r>
              <a:rPr lang="zh-CN" altLang="en-US" dirty="0"/>
              <a:t>SecurityCheck_v5.exe</a:t>
            </a:r>
            <a:endParaRPr lang="en-US" dirty="0"/>
          </a:p>
        </p:txBody>
      </p:sp>
      <p:sp>
        <p:nvSpPr>
          <p:cNvPr id="6" name="标题 1" descr="2cc2a94b-6b45-4990-8a0b-6210fa78cc8d"/>
          <p:cNvSpPr>
            <a:spLocks noGrp="1"/>
          </p:cNvSpPr>
          <p:nvPr/>
        </p:nvSpPr>
        <p:spPr>
          <a:xfrm>
            <a:off x="625475" y="21113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主要功能</a:t>
            </a:r>
            <a:endParaRPr lang="en-US" dirty="0"/>
          </a:p>
        </p:txBody>
      </p:sp>
      <p:grpSp>
        <p:nvGrpSpPr>
          <p:cNvPr id="9" name="c6c0c05b-f3d3-4534-8ecd-584f1a7a35dc.source.7.zh-Hans.pptx" descr="7c3fe3d4-df26-4f76-a390-dbd4f7a6073e"/>
          <p:cNvGrpSpPr/>
          <p:nvPr/>
        </p:nvGrpSpPr>
        <p:grpSpPr>
          <a:xfrm>
            <a:off x="625475" y="1198245"/>
            <a:ext cx="10914379" cy="5534867"/>
            <a:chOff x="604273" y="1437002"/>
            <a:chExt cx="10914626" cy="4697099"/>
          </a:xfrm>
        </p:grpSpPr>
        <p:sp>
          <p:nvSpPr>
            <p:cNvPr id="10" name="矩形: 圆角 303" descr="e344e629-eb88-4bb6-a1fa-036d55e60929"/>
            <p:cNvSpPr/>
            <p:nvPr/>
          </p:nvSpPr>
          <p:spPr>
            <a:xfrm>
              <a:off x="7262898" y="1680207"/>
              <a:ext cx="4256001" cy="4453894"/>
            </a:xfrm>
            <a:prstGeom prst="roundRect">
              <a:avLst>
                <a:gd name="adj" fmla="val 3122"/>
              </a:avLst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298" descr="7d74783c-ad13-4706-8a20-8a8ca411faa8"/>
            <p:cNvSpPr txBox="1"/>
            <p:nvPr/>
          </p:nvSpPr>
          <p:spPr>
            <a:xfrm>
              <a:off x="4971762" y="1680207"/>
              <a:ext cx="2235778" cy="4453894"/>
            </a:xfrm>
            <a:prstGeom prst="roundRect">
              <a:avLst>
                <a:gd name="adj" fmla="val 3122"/>
              </a:avLst>
            </a:prstGeom>
            <a:solidFill>
              <a:schemeClr val="accent1"/>
            </a:solidFill>
          </p:spPr>
          <p:txBody>
            <a:bodyPr wrap="square" lIns="91440" tIns="45720" rIns="91440" bIns="45720" rtlCol="0" anchor="ctr" anchorCtr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en-US" altLang="zh-CN" b="1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12" name="矩形: 圆角 12" descr="0d3bf38a-7f5e-417e-a5eb-802a521b12e9"/>
            <p:cNvSpPr/>
            <p:nvPr/>
          </p:nvSpPr>
          <p:spPr>
            <a:xfrm>
              <a:off x="716280" y="1437002"/>
              <a:ext cx="4256001" cy="4453894"/>
            </a:xfrm>
            <a:prstGeom prst="roundRect">
              <a:avLst>
                <a:gd name="adj" fmla="val 3122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 descr="a6d75cc0-4e16-4d25-8029-2cfb646c5c21"/>
            <p:cNvGrpSpPr/>
            <p:nvPr/>
          </p:nvGrpSpPr>
          <p:grpSpPr>
            <a:xfrm>
              <a:off x="660400" y="2940081"/>
              <a:ext cx="1964863" cy="1774764"/>
              <a:chOff x="660400" y="2940081"/>
              <a:chExt cx="1964863" cy="1774764"/>
            </a:xfrm>
          </p:grpSpPr>
          <p:sp>
            <p:nvSpPr>
              <p:cNvPr id="22" name="Bullet1" descr="6fc1d6c0-6148-45ee-a13e-4f3d6d3b07d6"/>
              <p:cNvSpPr txBox="1"/>
              <p:nvPr/>
            </p:nvSpPr>
            <p:spPr>
              <a:xfrm>
                <a:off x="660400" y="2940081"/>
                <a:ext cx="1964863" cy="555719"/>
              </a:xfrm>
              <a:prstGeom prst="roundRect">
                <a:avLst/>
              </a:prstGeom>
              <a:solidFill>
                <a:schemeClr val="accent2"/>
              </a:solidFill>
            </p:spPr>
            <p:txBody>
              <a:bodyPr wrap="square" lIns="91440" tIns="45720" rIns="91440" bIns="45720" rtlCol="0" anchor="ctr" anchorCtr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1.</a:t>
                </a: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FTP服务与传输功能检查</a:t>
                </a:r>
                <a:endParaRPr lang="en-US" altLang="zh-CN" sz="1300" b="1" dirty="0">
                  <a:solidFill>
                    <a:srgbClr val="FFFFFF"/>
                  </a:solidFill>
                  <a:sym typeface="+mn-ea"/>
                </a:endParaRPr>
              </a:p>
            </p:txBody>
          </p:sp>
          <p:sp>
            <p:nvSpPr>
              <p:cNvPr id="23" name="Text1" descr="b9eb5e81-3f33-443d-86fd-ecff4086370d"/>
              <p:cNvSpPr txBox="1"/>
              <p:nvPr/>
            </p:nvSpPr>
            <p:spPr>
              <a:xfrm>
                <a:off x="660400" y="3547462"/>
                <a:ext cx="1964863" cy="1167383"/>
              </a:xfrm>
              <a:prstGeom prst="roundRect">
                <a:avLst>
                  <a:gd name="adj" fmla="val 5440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检查FTP服务安装、客户端功能启用及端口开放情况。</a:t>
                </a:r>
                <a:endParaRPr lang="en-US" dirty="0"/>
              </a:p>
            </p:txBody>
          </p:sp>
        </p:grpSp>
        <p:grpSp>
          <p:nvGrpSpPr>
            <p:cNvPr id="24" name="组合 23" descr="b42489e7-9858-4f1b-9c10-a1f67ba9ff35"/>
            <p:cNvGrpSpPr/>
            <p:nvPr/>
          </p:nvGrpSpPr>
          <p:grpSpPr>
            <a:xfrm>
              <a:off x="604273" y="4465321"/>
              <a:ext cx="1964863" cy="1240514"/>
              <a:chOff x="604273" y="4465321"/>
              <a:chExt cx="1964863" cy="1240514"/>
            </a:xfrm>
          </p:grpSpPr>
          <p:sp>
            <p:nvSpPr>
              <p:cNvPr id="25" name="Bullet2" descr="a1829e9f-bde0-45a6-8834-31820f4e2a14"/>
              <p:cNvSpPr txBox="1"/>
              <p:nvPr/>
            </p:nvSpPr>
            <p:spPr>
              <a:xfrm>
                <a:off x="604273" y="4465321"/>
                <a:ext cx="1964863" cy="555719"/>
              </a:xfrm>
              <a:prstGeom prst="roundRect">
                <a:avLst/>
              </a:prstGeom>
              <a:solidFill>
                <a:schemeClr val="accent2"/>
              </a:solidFill>
            </p:spPr>
            <p:txBody>
              <a:bodyPr wrap="square" lIns="91440" tIns="45720" rIns="91440" bIns="45720" rtlCol="0" anchor="ctr" anchorCtr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2.</a:t>
                </a: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网卡信息检查</a:t>
                </a:r>
                <a:endParaRPr lang="en-US" altLang="zh-CN" sz="1600" b="1" dirty="0">
                  <a:solidFill>
                    <a:srgbClr val="FFFFFF"/>
                  </a:solidFill>
                  <a:sym typeface="+mn-ea"/>
                </a:endParaRPr>
              </a:p>
            </p:txBody>
          </p:sp>
          <p:sp>
            <p:nvSpPr>
              <p:cNvPr id="32" name="Text2" descr="bead0a0b-b54a-4785-bca6-34f06f2f21a3"/>
              <p:cNvSpPr txBox="1"/>
              <p:nvPr/>
            </p:nvSpPr>
            <p:spPr>
              <a:xfrm>
                <a:off x="604273" y="5072645"/>
                <a:ext cx="1964734" cy="633190"/>
              </a:xfrm>
              <a:prstGeom prst="roundRect">
                <a:avLst>
                  <a:gd name="adj" fmla="val 5440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输出所有网卡信息，检测无线网卡是否启用。</a:t>
                </a:r>
                <a:endParaRPr lang="en-US" dirty="0"/>
              </a:p>
            </p:txBody>
          </p:sp>
        </p:grpSp>
        <p:grpSp>
          <p:nvGrpSpPr>
            <p:cNvPr id="33" name="组合 32" descr="2cd8fec5-2ad6-40bb-a49b-d4bb07ca4f75"/>
            <p:cNvGrpSpPr/>
            <p:nvPr/>
          </p:nvGrpSpPr>
          <p:grpSpPr>
            <a:xfrm>
              <a:off x="2785860" y="1643528"/>
              <a:ext cx="1974413" cy="1714013"/>
              <a:chOff x="2785860" y="1643528"/>
              <a:chExt cx="1974413" cy="1714013"/>
            </a:xfrm>
          </p:grpSpPr>
          <p:sp>
            <p:nvSpPr>
              <p:cNvPr id="34" name="Bullet3" descr="16cd1f7f-2de0-46c0-87b7-6a3a2ba287b4"/>
              <p:cNvSpPr txBox="1"/>
              <p:nvPr/>
            </p:nvSpPr>
            <p:spPr>
              <a:xfrm>
                <a:off x="2785860" y="1643528"/>
                <a:ext cx="1964863" cy="555719"/>
              </a:xfrm>
              <a:prstGeom prst="roundRect">
                <a:avLst/>
              </a:prstGeom>
              <a:solidFill>
                <a:schemeClr val="accent2"/>
              </a:solidFill>
            </p:spPr>
            <p:txBody>
              <a:bodyPr wrap="square" lIns="91440" tIns="45720" rIns="91440" bIns="45720" rtlCol="0" anchor="ctr" anchorCtr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3.</a:t>
                </a: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高危端口状态检测</a:t>
                </a:r>
                <a:endParaRPr lang="en-US" altLang="zh-CN" sz="1300" b="1" dirty="0">
                  <a:solidFill>
                    <a:srgbClr val="FFFFFF"/>
                  </a:solidFill>
                  <a:sym typeface="+mn-ea"/>
                </a:endParaRPr>
              </a:p>
            </p:txBody>
          </p:sp>
          <p:sp>
            <p:nvSpPr>
              <p:cNvPr id="35" name="Text3" descr="3d6f28ec-08c4-4630-83f5-56c44cf7e90d"/>
              <p:cNvSpPr txBox="1"/>
              <p:nvPr/>
            </p:nvSpPr>
            <p:spPr>
              <a:xfrm>
                <a:off x="2795410" y="2190158"/>
                <a:ext cx="1964863" cy="1167383"/>
              </a:xfrm>
              <a:prstGeom prst="roundRect">
                <a:avLst>
                  <a:gd name="adj" fmla="val 5440"/>
                </a:avLst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检查多个高危端口的防火墙策略，保障端口安全。</a:t>
                </a:r>
                <a:endParaRPr lang="en-US" dirty="0"/>
              </a:p>
            </p:txBody>
          </p:sp>
        </p:grpSp>
        <p:grpSp>
          <p:nvGrpSpPr>
            <p:cNvPr id="36" name="组合 35" descr="3428a01b-a52e-41e6-963c-85e972627b02"/>
            <p:cNvGrpSpPr/>
            <p:nvPr/>
          </p:nvGrpSpPr>
          <p:grpSpPr>
            <a:xfrm>
              <a:off x="2795096" y="2914046"/>
              <a:ext cx="1986041" cy="1169920"/>
              <a:chOff x="2795096" y="2914046"/>
              <a:chExt cx="1986041" cy="1169920"/>
            </a:xfrm>
          </p:grpSpPr>
          <p:sp>
            <p:nvSpPr>
              <p:cNvPr id="37" name="Bullet4" descr="aa11dce8-7506-40d5-8854-92f95c2cae9f"/>
              <p:cNvSpPr txBox="1"/>
              <p:nvPr/>
            </p:nvSpPr>
            <p:spPr>
              <a:xfrm>
                <a:off x="2816274" y="2914046"/>
                <a:ext cx="1964863" cy="555719"/>
              </a:xfrm>
              <a:prstGeom prst="roundRect">
                <a:avLst/>
              </a:prstGeom>
              <a:solidFill>
                <a:schemeClr val="accent2"/>
              </a:solidFill>
            </p:spPr>
            <p:txBody>
              <a:bodyPr wrap="square" lIns="91440" tIns="45720" rIns="91440" bIns="45720" rtlCol="0" anchor="ctr" anchorCtr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4.</a:t>
                </a: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IPv6禁用状态检查</a:t>
                </a:r>
                <a:endParaRPr lang="en-US" altLang="zh-CN" sz="1300" b="1" dirty="0">
                  <a:solidFill>
                    <a:srgbClr val="FFFFFF"/>
                  </a:solidFill>
                  <a:sym typeface="+mn-ea"/>
                </a:endParaRPr>
              </a:p>
            </p:txBody>
          </p:sp>
          <p:sp>
            <p:nvSpPr>
              <p:cNvPr id="38" name="Text4" descr="c438615e-ea8a-4a90-b4f8-427f41389d33"/>
              <p:cNvSpPr txBox="1"/>
              <p:nvPr/>
            </p:nvSpPr>
            <p:spPr>
              <a:xfrm>
                <a:off x="2795096" y="3525142"/>
                <a:ext cx="1964734" cy="558824"/>
              </a:xfrm>
              <a:prstGeom prst="roundRect">
                <a:avLst>
                  <a:gd name="adj" fmla="val 5440"/>
                </a:avLst>
              </a:prstGeom>
              <a:noFill/>
              <a:ln>
                <a:solidFill>
                  <a:schemeClr val="accent3"/>
                </a:solidFill>
              </a:ln>
            </p:spPr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验证IPv6是否通过注册表方式正确禁用。</a:t>
                </a:r>
                <a:endParaRPr lang="en-US" dirty="0"/>
              </a:p>
            </p:txBody>
          </p:sp>
        </p:grpSp>
        <p:grpSp>
          <p:nvGrpSpPr>
            <p:cNvPr id="39" name="组合 38" descr="fcc3e63f-fc6f-4fb6-9774-9e40956172dd"/>
            <p:cNvGrpSpPr/>
            <p:nvPr/>
          </p:nvGrpSpPr>
          <p:grpSpPr>
            <a:xfrm>
              <a:off x="2788288" y="4184616"/>
              <a:ext cx="1964863" cy="1253987"/>
              <a:chOff x="2788288" y="4184616"/>
              <a:chExt cx="1964863" cy="1253987"/>
            </a:xfrm>
          </p:grpSpPr>
          <p:sp>
            <p:nvSpPr>
              <p:cNvPr id="40" name="Bullet5" descr="7dec00cb-399e-4da1-8c5d-f838333fea47"/>
              <p:cNvSpPr txBox="1"/>
              <p:nvPr/>
            </p:nvSpPr>
            <p:spPr>
              <a:xfrm>
                <a:off x="2788288" y="4184616"/>
                <a:ext cx="1964863" cy="555719"/>
              </a:xfrm>
              <a:prstGeom prst="roundRect">
                <a:avLst/>
              </a:prstGeom>
              <a:solidFill>
                <a:schemeClr val="accent2"/>
              </a:solidFill>
            </p:spPr>
            <p:txBody>
              <a:bodyPr wrap="square" lIns="91440" tIns="45720" rIns="91440" bIns="45720" rtlCol="0" anchor="ctr" anchorCtr="1">
                <a:no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FFFFFF"/>
                    </a:solidFill>
                  </a:rPr>
                  <a:t>5.</a:t>
                </a:r>
                <a:r>
                  <a:rPr lang="zh-CN" altLang="en-US" sz="1600" b="1" dirty="0">
                    <a:solidFill>
                      <a:srgbClr val="FFFFFF"/>
                    </a:solidFill>
                  </a:rPr>
                  <a:t>高危漏洞修复检查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Text5" descr="31d6b93e-2932-46cf-be18-a570c5f49a6d"/>
              <p:cNvSpPr txBox="1"/>
              <p:nvPr/>
            </p:nvSpPr>
            <p:spPr>
              <a:xfrm>
                <a:off x="2788288" y="4854990"/>
                <a:ext cx="1964734" cy="583613"/>
              </a:xfrm>
              <a:prstGeom prst="roundRect">
                <a:avLst>
                  <a:gd name="adj" fmla="val 5440"/>
                </a:avLst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审查最近系统更新</a:t>
                </a:r>
                <a:r>
                  <a:rPr lang="zh-CN" altLang="en-US" sz="1200" dirty="0"/>
                  <a:t>的补丁。</a:t>
                </a:r>
                <a:endParaRPr lang="en-US" dirty="0"/>
              </a:p>
            </p:txBody>
          </p:sp>
        </p:grpSp>
        <p:grpSp>
          <p:nvGrpSpPr>
            <p:cNvPr id="42" name="组合 41" descr="14bf64a8-42c9-4a44-b632-29d28d1f65b4"/>
            <p:cNvGrpSpPr/>
            <p:nvPr/>
          </p:nvGrpSpPr>
          <p:grpSpPr>
            <a:xfrm>
              <a:off x="5135301" y="2384240"/>
              <a:ext cx="1987089" cy="1899248"/>
              <a:chOff x="5135301" y="2384240"/>
              <a:chExt cx="1987089" cy="1899248"/>
            </a:xfrm>
          </p:grpSpPr>
          <p:sp>
            <p:nvSpPr>
              <p:cNvPr id="43" name="Bullet6" descr="777de72a-8fb3-4478-b90b-b5285afa19fc"/>
              <p:cNvSpPr txBox="1"/>
              <p:nvPr/>
            </p:nvSpPr>
            <p:spPr>
              <a:xfrm>
                <a:off x="5157527" y="2384240"/>
                <a:ext cx="1964863" cy="555719"/>
              </a:xfrm>
              <a:prstGeom prst="roundRect">
                <a:avLst/>
              </a:prstGeom>
              <a:solidFill>
                <a:schemeClr val="accent3"/>
              </a:solidFill>
            </p:spPr>
            <p:txBody>
              <a:bodyPr wrap="square" lIns="91440" tIns="45720" rIns="91440" bIns="45720" rtlCol="0" anchor="ctr" anchorCtr="1">
                <a:norm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6.</a:t>
                </a:r>
                <a:r>
                  <a:rPr lang="en-US" altLang="zh-CN" sz="1600" b="1" dirty="0">
                    <a:solidFill>
                      <a:srgbClr val="FFFFFF"/>
                    </a:solidFill>
                    <a:sym typeface="+mn-ea"/>
                  </a:rPr>
                  <a:t>密码策略检查</a:t>
                </a:r>
                <a:endParaRPr lang="en-US" altLang="zh-CN" sz="1600" b="1" dirty="0">
                  <a:solidFill>
                    <a:srgbClr val="FFFFFF"/>
                  </a:solidFill>
                  <a:sym typeface="+mn-ea"/>
                </a:endParaRPr>
              </a:p>
            </p:txBody>
          </p:sp>
          <p:sp>
            <p:nvSpPr>
              <p:cNvPr id="44" name="Text6" descr="5e73f7ca-78d0-4ee9-8950-3631fe104113"/>
              <p:cNvSpPr txBox="1"/>
              <p:nvPr/>
            </p:nvSpPr>
            <p:spPr>
              <a:xfrm>
                <a:off x="5135301" y="3116105"/>
                <a:ext cx="1964863" cy="1167383"/>
              </a:xfrm>
              <a:prstGeom prst="roundRect">
                <a:avLst>
                  <a:gd name="adj" fmla="val 5440"/>
                </a:avLst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验证密码策略合规性，检查密码有效期限设置。</a:t>
                </a:r>
                <a:endParaRPr lang="en-US" dirty="0"/>
              </a:p>
            </p:txBody>
          </p:sp>
        </p:grpSp>
        <p:grpSp>
          <p:nvGrpSpPr>
            <p:cNvPr id="45" name="组合 44" descr="5eaa1b1f-3bfd-4cf8-9870-d1d2d9309a5b"/>
            <p:cNvGrpSpPr/>
            <p:nvPr/>
          </p:nvGrpSpPr>
          <p:grpSpPr>
            <a:xfrm>
              <a:off x="7473095" y="1797105"/>
              <a:ext cx="1990340" cy="1319204"/>
              <a:chOff x="7473095" y="1797105"/>
              <a:chExt cx="1990340" cy="1319204"/>
            </a:xfrm>
          </p:grpSpPr>
          <p:sp>
            <p:nvSpPr>
              <p:cNvPr id="46" name="Bullet7" descr="011fe1e8-53d2-4cc8-8b2a-139fc7ee19fb"/>
              <p:cNvSpPr txBox="1"/>
              <p:nvPr/>
            </p:nvSpPr>
            <p:spPr>
              <a:xfrm>
                <a:off x="7473095" y="1797105"/>
                <a:ext cx="1964863" cy="555719"/>
              </a:xfrm>
              <a:prstGeom prst="roundRect">
                <a:avLst/>
              </a:prstGeom>
              <a:solidFill>
                <a:schemeClr val="accent2"/>
              </a:solidFill>
            </p:spPr>
            <p:txBody>
              <a:bodyPr wrap="square" lIns="91440" tIns="45720" rIns="91440" bIns="45720" rtlCol="0" anchor="ctr" anchorCtr="1">
                <a:no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FFFFFF"/>
                    </a:solidFill>
                  </a:rPr>
                  <a:t>7.</a:t>
                </a:r>
                <a:r>
                  <a:rPr lang="zh-CN" altLang="en-US" sz="1600" b="1" dirty="0">
                    <a:solidFill>
                      <a:srgbClr val="FFFFFF"/>
                    </a:solidFill>
                  </a:rPr>
                  <a:t>Guest用户状态检查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Text7" descr="3efbcf7a-a969-419b-bf35-98ad42e23b3c"/>
              <p:cNvSpPr txBox="1"/>
              <p:nvPr/>
            </p:nvSpPr>
            <p:spPr>
              <a:xfrm>
                <a:off x="7498701" y="2504674"/>
                <a:ext cx="1964734" cy="611635"/>
              </a:xfrm>
              <a:prstGeom prst="roundRect">
                <a:avLst>
                  <a:gd name="adj" fmla="val 5440"/>
                </a:avLst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lIns="91440" tIns="45720" rIns="91440" bIns="45720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确认Guest用户是否已禁用，避免潜在安全风险。</a:t>
                </a:r>
                <a:endParaRPr lang="en-US" dirty="0"/>
              </a:p>
            </p:txBody>
          </p:sp>
        </p:grpSp>
      </p:grpSp>
      <p:sp>
        <p:nvSpPr>
          <p:cNvPr id="48" name="Bullet7" descr="011fe1e8-53d2-4cc8-8b2a-139fc7ee19fb"/>
          <p:cNvSpPr txBox="1"/>
          <p:nvPr/>
        </p:nvSpPr>
        <p:spPr>
          <a:xfrm>
            <a:off x="7518862" y="3759866"/>
            <a:ext cx="1964863" cy="555719"/>
          </a:xfrm>
          <a:prstGeom prst="roundRect">
            <a:avLst/>
          </a:prstGeom>
          <a:solidFill>
            <a:schemeClr val="accent2"/>
          </a:solidFill>
        </p:spPr>
        <p:txBody>
          <a:bodyPr wrap="square" lIns="91440" tIns="45720" rIns="91440" bIns="45720" rtlCol="0" anchor="ctr" anchorCtr="1">
            <a:noAutofit/>
          </a:bodyPr>
          <a:p>
            <a:pPr algn="ctr"/>
            <a:r>
              <a:rPr lang="en-US" altLang="zh-CN" sz="1500" b="1" dirty="0">
                <a:solidFill>
                  <a:srgbClr val="FFFFFF"/>
                </a:solidFill>
              </a:rPr>
              <a:t>8.</a:t>
            </a:r>
            <a:r>
              <a:rPr lang="zh-CN" altLang="en-US" sz="1500" b="1" dirty="0">
                <a:solidFill>
                  <a:srgbClr val="FFFFFF"/>
                </a:solidFill>
              </a:rPr>
              <a:t>U盘自动播放功能</a:t>
            </a:r>
            <a:endParaRPr lang="zh-CN" altLang="en-US" sz="1500" b="1" dirty="0">
              <a:solidFill>
                <a:srgbClr val="FFFFFF"/>
              </a:solidFill>
            </a:endParaRPr>
          </a:p>
        </p:txBody>
      </p:sp>
      <p:sp>
        <p:nvSpPr>
          <p:cNvPr id="49" name="Text7" descr="3efbcf7a-a969-419b-bf35-98ad42e23b3c"/>
          <p:cNvSpPr txBox="1"/>
          <p:nvPr/>
        </p:nvSpPr>
        <p:spPr>
          <a:xfrm>
            <a:off x="7502987" y="4521552"/>
            <a:ext cx="1964863" cy="1167383"/>
          </a:xfrm>
          <a:prstGeom prst="roundRect">
            <a:avLst>
              <a:gd name="adj" fmla="val 544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91440" tIns="45720" rIns="91440" bIns="45720" rtlCol="0" anchor="t" anchorCtr="1">
            <a:normAutofit/>
          </a:bodyPr>
          <a:p>
            <a:pPr algn="ctr">
              <a:lnSpc>
                <a:spcPct val="120000"/>
              </a:lnSpc>
            </a:pPr>
            <a:r>
              <a:rPr lang="zh-CN" altLang="en-US" sz="1200" dirty="0"/>
              <a:t>U盘自动播放</a:t>
            </a:r>
            <a:r>
              <a:rPr lang="zh-CN" altLang="en-US" sz="1200" dirty="0"/>
              <a:t>是否禁用</a:t>
            </a:r>
            <a:endParaRPr lang="zh-CN" altLang="en-US" sz="1200" dirty="0"/>
          </a:p>
        </p:txBody>
      </p:sp>
      <p:sp>
        <p:nvSpPr>
          <p:cNvPr id="50" name="Bullet7" descr="011fe1e8-53d2-4cc8-8b2a-139fc7ee19fb"/>
          <p:cNvSpPr txBox="1"/>
          <p:nvPr/>
        </p:nvSpPr>
        <p:spPr>
          <a:xfrm>
            <a:off x="9631507" y="2086006"/>
            <a:ext cx="1964863" cy="555719"/>
          </a:xfrm>
          <a:prstGeom prst="roundRect">
            <a:avLst/>
          </a:prstGeom>
          <a:solidFill>
            <a:schemeClr val="accent2"/>
          </a:solidFill>
        </p:spPr>
        <p:txBody>
          <a:bodyPr wrap="square" lIns="91440" tIns="45720" rIns="91440" bIns="45720" rtlCol="0" anchor="ctr" anchorCtr="1">
            <a:noAutofit/>
          </a:bodyPr>
          <a:lstStyle/>
          <a:p>
            <a:pPr algn="ctr"/>
            <a:r>
              <a:rPr lang="en-US" altLang="zh-CN" sz="1500" b="1" dirty="0">
                <a:solidFill>
                  <a:srgbClr val="FFFFFF"/>
                </a:solidFill>
              </a:rPr>
              <a:t>9.</a:t>
            </a:r>
            <a:r>
              <a:rPr lang="zh-CN" altLang="en-US" sz="1500" b="1" dirty="0">
                <a:solidFill>
                  <a:srgbClr val="FFFFFF"/>
                </a:solidFill>
              </a:rPr>
              <a:t>Google 浏览器版本检测</a:t>
            </a:r>
            <a:endParaRPr lang="zh-CN" altLang="en-US" sz="1500" b="1" dirty="0">
              <a:solidFill>
                <a:srgbClr val="FFFFFF"/>
              </a:solidFill>
            </a:endParaRPr>
          </a:p>
        </p:txBody>
      </p:sp>
      <p:sp>
        <p:nvSpPr>
          <p:cNvPr id="51" name="Text7" descr="3efbcf7a-a969-419b-bf35-98ad42e23b3c"/>
          <p:cNvSpPr txBox="1"/>
          <p:nvPr/>
        </p:nvSpPr>
        <p:spPr>
          <a:xfrm>
            <a:off x="9575165" y="2969260"/>
            <a:ext cx="1964690" cy="689610"/>
          </a:xfrm>
          <a:prstGeom prst="roundRect">
            <a:avLst>
              <a:gd name="adj" fmla="val 544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91440" tIns="45720" rIns="91440" bIns="45720" rtlCol="0" anchor="t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/>
              <a:t>输出</a:t>
            </a:r>
            <a:r>
              <a:rPr lang="en-US" altLang="zh-CN" sz="1200" dirty="0"/>
              <a:t>Chome</a:t>
            </a:r>
            <a:r>
              <a:rPr lang="zh-CN" altLang="en-US" sz="1200" dirty="0"/>
              <a:t>浏览器版本</a:t>
            </a:r>
            <a:r>
              <a:rPr lang="zh-CN" altLang="en-US" sz="1200" dirty="0"/>
              <a:t>号。</a:t>
            </a:r>
            <a:endParaRPr lang="en-US" dirty="0"/>
          </a:p>
        </p:txBody>
      </p:sp>
      <p:sp>
        <p:nvSpPr>
          <p:cNvPr id="52" name="Bullet7" descr="011fe1e8-53d2-4cc8-8b2a-139fc7ee19fb"/>
          <p:cNvSpPr txBox="1"/>
          <p:nvPr/>
        </p:nvSpPr>
        <p:spPr>
          <a:xfrm>
            <a:off x="9574992" y="4834286"/>
            <a:ext cx="1964863" cy="555719"/>
          </a:xfrm>
          <a:prstGeom prst="roundRect">
            <a:avLst/>
          </a:prstGeom>
          <a:solidFill>
            <a:schemeClr val="accent2"/>
          </a:solidFill>
        </p:spPr>
        <p:txBody>
          <a:bodyPr wrap="square" lIns="91440" tIns="45720" rIns="91440" bIns="45720" rtlCol="0" anchor="ctr" anchorCtr="1">
            <a:normAutofit/>
          </a:bodyPr>
          <a:lstStyle/>
          <a:p>
            <a:pPr algn="ctr">
              <a:buClrTx/>
              <a:buSzTx/>
              <a:buFontTx/>
            </a:pPr>
            <a:r>
              <a:rPr lang="en-US" altLang="zh-CN" sz="1600" b="1" dirty="0">
                <a:solidFill>
                  <a:srgbClr val="FFFFFF"/>
                </a:solidFill>
              </a:rPr>
              <a:t>10.</a:t>
            </a:r>
            <a:r>
              <a:rPr lang="zh-CN" altLang="en-US" sz="1600" b="1" dirty="0">
                <a:solidFill>
                  <a:srgbClr val="FFFFFF"/>
                </a:solidFill>
              </a:rPr>
              <a:t>锁屏策略检查</a:t>
            </a:r>
            <a:endParaRPr lang="zh-CN" altLang="en-US" sz="1600" b="1" dirty="0">
              <a:solidFill>
                <a:srgbClr val="FFFFFF"/>
              </a:solidFill>
            </a:endParaRPr>
          </a:p>
        </p:txBody>
      </p:sp>
      <p:sp>
        <p:nvSpPr>
          <p:cNvPr id="53" name="Text7" descr="3efbcf7a-a969-419b-bf35-98ad42e23b3c"/>
          <p:cNvSpPr txBox="1"/>
          <p:nvPr/>
        </p:nvSpPr>
        <p:spPr>
          <a:xfrm>
            <a:off x="9574992" y="5441667"/>
            <a:ext cx="1964863" cy="1167383"/>
          </a:xfrm>
          <a:prstGeom prst="roundRect">
            <a:avLst>
              <a:gd name="adj" fmla="val 5440"/>
            </a:avLst>
          </a:prstGeom>
          <a:noFill/>
          <a:ln>
            <a:solidFill>
              <a:schemeClr val="accent2"/>
            </a:solidFill>
          </a:ln>
        </p:spPr>
        <p:txBody>
          <a:bodyPr wrap="square" lIns="91440" tIns="45720" rIns="91440" bIns="45720" rtlCol="0" anchor="t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/>
              <a:t>判断是否设置了</a:t>
            </a:r>
            <a:r>
              <a:rPr lang="en-US" altLang="zh-CN" sz="1200" dirty="0"/>
              <a:t>10</a:t>
            </a:r>
            <a:r>
              <a:rPr lang="zh-CN" altLang="en-US" sz="1200" dirty="0"/>
              <a:t>分钟</a:t>
            </a:r>
            <a:r>
              <a:rPr lang="zh-CN" altLang="en-US" sz="1200" dirty="0"/>
              <a:t>强制锁屏。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cc2a94b-6b45-4990-8a0b-6210fa78cc8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输出示例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14366"/>
          <a:stretch>
            <a:fillRect/>
          </a:stretch>
        </p:blipFill>
        <p:spPr>
          <a:xfrm>
            <a:off x="2452370" y="281940"/>
            <a:ext cx="9458325" cy="61582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2cc2a94b-6b45-4990-8a0b-6210fa78cc8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脚本更新与重新打包</a:t>
            </a:r>
            <a:endParaRPr lang="en-US" dirty="0"/>
          </a:p>
        </p:txBody>
      </p:sp>
      <p:grpSp>
        <p:nvGrpSpPr>
          <p:cNvPr id="6" name="10c4dd74-1cf7-497d-bdc9-969b28dab03d.source.4.zh-Hans.pptx" descr="526b4502-fdad-47ae-a312-916e82cadc23"/>
          <p:cNvGrpSpPr/>
          <p:nvPr>
            <p:custDataLst>
              <p:tags r:id="rId1"/>
            </p:custDataLst>
          </p:nvPr>
        </p:nvGrpSpPr>
        <p:grpSpPr>
          <a:xfrm>
            <a:off x="660400" y="1123950"/>
            <a:ext cx="10858500" cy="4767121"/>
            <a:chOff x="660400" y="1123950"/>
            <a:chExt cx="10858500" cy="4767121"/>
          </a:xfrm>
        </p:grpSpPr>
        <p:sp>
          <p:nvSpPr>
            <p:cNvPr id="3" name="Title" descr="89c0f663-a484-4b9f-9972-4003e221008b"/>
            <p:cNvSpPr/>
            <p:nvPr/>
          </p:nvSpPr>
          <p:spPr>
            <a:xfrm>
              <a:off x="660400" y="1123950"/>
              <a:ext cx="10858500" cy="11112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400" b="1" dirty="0">
                  <a:cs typeface="+mn-ea"/>
                  <a:sym typeface="+mn-lt"/>
                </a:rPr>
                <a:t>脚本修改与打包方法</a:t>
              </a:r>
              <a:endParaRPr lang="en-US" dirty="0"/>
            </a:p>
          </p:txBody>
        </p:sp>
        <p:cxnSp>
          <p:nvCxnSpPr>
            <p:cNvPr id="9" name="ïṩliḋe" descr="1359c71d-2846-40a9-974e-03c60813fbb6"/>
            <p:cNvCxnSpPr/>
            <p:nvPr/>
          </p:nvCxnSpPr>
          <p:spPr>
            <a:xfrm>
              <a:off x="673100" y="5016500"/>
              <a:ext cx="10845800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组合 3" descr="3a4f70dd-6880-4ed0-8440-71aa402286d8"/>
            <p:cNvGrpSpPr/>
            <p:nvPr/>
          </p:nvGrpSpPr>
          <p:grpSpPr>
            <a:xfrm>
              <a:off x="1919242" y="2732025"/>
              <a:ext cx="2692746" cy="3159046"/>
              <a:chOff x="1919242" y="2732025"/>
              <a:chExt cx="2692746" cy="3159046"/>
            </a:xfrm>
          </p:grpSpPr>
          <p:sp>
            <p:nvSpPr>
              <p:cNvPr id="48" name="Bullet1" descr="7261d2ec-7750-4d7c-b66e-133e308c9800"/>
              <p:cNvSpPr/>
              <p:nvPr>
                <p:custDataLst>
                  <p:tags r:id="rId2"/>
                </p:custDataLst>
              </p:nvPr>
            </p:nvSpPr>
            <p:spPr>
              <a:xfrm>
                <a:off x="1998346" y="2732025"/>
                <a:ext cx="2613642" cy="752238"/>
              </a:xfrm>
              <a:prstGeom prst="rect">
                <a:avLst/>
              </a:prstGeom>
            </p:spPr>
            <p:txBody>
              <a:bodyPr wrap="square" lIns="0" tIns="0" rIns="0" bIns="0" anchor="b" anchorCtr="1">
                <a:normAutofit/>
              </a:bodyPr>
              <a:lstStyle/>
              <a:p>
                <a:pPr algn="ctr"/>
                <a:r>
                  <a:rPr lang="zh-CN" altLang="en-US" b="1" dirty="0">
                    <a:effectLst/>
                    <a:cs typeface="+mn-ea"/>
                    <a:sym typeface="+mn-lt"/>
                  </a:rPr>
                  <a:t>编码修复</a:t>
                </a:r>
                <a:endParaRPr lang="en-US" dirty="0"/>
              </a:p>
            </p:txBody>
          </p:sp>
          <p:sp>
            <p:nvSpPr>
              <p:cNvPr id="49" name="Text1" descr="8ccd2f5d-7197-4b9e-bc16-3d2f21fad132"/>
              <p:cNvSpPr/>
              <p:nvPr>
                <p:custDataLst>
                  <p:tags r:id="rId3"/>
                </p:custDataLst>
              </p:nvPr>
            </p:nvSpPr>
            <p:spPr>
              <a:xfrm>
                <a:off x="1919242" y="3562366"/>
                <a:ext cx="2613645" cy="2328705"/>
              </a:xfrm>
              <a:prstGeom prst="rect">
                <a:avLst/>
              </a:prstGeom>
            </p:spPr>
            <p:txBody>
              <a:bodyPr wrap="square" lIns="0" tIns="0" rIns="0" bIns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使用PowerShell命令修复脚本编码问题，确保脚本正常运行。</a:t>
                </a:r>
                <a:endParaRPr lang="en-US" dirty="0"/>
              </a:p>
            </p:txBody>
          </p:sp>
        </p:grpSp>
        <p:grpSp>
          <p:nvGrpSpPr>
            <p:cNvPr id="10" name="组合 9" descr="1c123675-4162-40a5-b45b-002f760990f4"/>
            <p:cNvGrpSpPr/>
            <p:nvPr/>
          </p:nvGrpSpPr>
          <p:grpSpPr>
            <a:xfrm>
              <a:off x="4667527" y="2732025"/>
              <a:ext cx="2692746" cy="3159046"/>
              <a:chOff x="4667527" y="2732025"/>
              <a:chExt cx="2692746" cy="3159046"/>
            </a:xfrm>
          </p:grpSpPr>
          <p:sp>
            <p:nvSpPr>
              <p:cNvPr id="36" name="Bullet2" descr="87dd7a5c-9f4b-479e-a558-247c59ce20b4"/>
              <p:cNvSpPr/>
              <p:nvPr>
                <p:custDataLst>
                  <p:tags r:id="rId4"/>
                </p:custDataLst>
              </p:nvPr>
            </p:nvSpPr>
            <p:spPr>
              <a:xfrm>
                <a:off x="4746631" y="2732025"/>
                <a:ext cx="2613642" cy="752238"/>
              </a:xfrm>
              <a:prstGeom prst="rect">
                <a:avLst/>
              </a:prstGeom>
            </p:spPr>
            <p:txBody>
              <a:bodyPr wrap="square" lIns="0" tIns="0" rIns="0" bIns="0" anchor="b" anchorCtr="1">
                <a:normAutofit/>
              </a:bodyPr>
              <a:lstStyle/>
              <a:p>
                <a:pPr algn="ctr"/>
                <a:r>
                  <a:rPr lang="zh-CN" altLang="en-US" b="1" dirty="0">
                    <a:effectLst/>
                    <a:cs typeface="+mn-ea"/>
                    <a:sym typeface="+mn-lt"/>
                  </a:rPr>
                  <a:t>测试运行脚本</a:t>
                </a:r>
                <a:endParaRPr lang="en-US" dirty="0"/>
              </a:p>
            </p:txBody>
          </p:sp>
          <p:sp>
            <p:nvSpPr>
              <p:cNvPr id="37" name="Text2" descr="917091d2-61f5-4204-9199-d5991dff208f"/>
              <p:cNvSpPr/>
              <p:nvPr>
                <p:custDataLst>
                  <p:tags r:id="rId5"/>
                </p:custDataLst>
              </p:nvPr>
            </p:nvSpPr>
            <p:spPr>
              <a:xfrm>
                <a:off x="4667527" y="3562366"/>
                <a:ext cx="2613645" cy="2328705"/>
              </a:xfrm>
              <a:prstGeom prst="rect">
                <a:avLst/>
              </a:prstGeom>
            </p:spPr>
            <p:txBody>
              <a:bodyPr wrap="square" lIns="0" tIns="0" rIns="0" bIns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在PowerShell中指定编码运行脚本，检查脚本功能是否正常。</a:t>
                </a:r>
                <a:endParaRPr lang="en-US" dirty="0"/>
              </a:p>
            </p:txBody>
          </p:sp>
        </p:grpSp>
        <p:grpSp>
          <p:nvGrpSpPr>
            <p:cNvPr id="17" name="组合 16" descr="0830b4e2-ca82-4164-81d5-d140a45ead3e"/>
            <p:cNvGrpSpPr/>
            <p:nvPr/>
          </p:nvGrpSpPr>
          <p:grpSpPr>
            <a:xfrm>
              <a:off x="7415812" y="2732025"/>
              <a:ext cx="2692745" cy="3159046"/>
              <a:chOff x="7415812" y="2732025"/>
              <a:chExt cx="2692745" cy="3159046"/>
            </a:xfrm>
          </p:grpSpPr>
          <p:sp>
            <p:nvSpPr>
              <p:cNvPr id="27" name="Bullet3" descr="5878016e-5a5a-4f34-85e3-2eb843e7bd39"/>
              <p:cNvSpPr/>
              <p:nvPr>
                <p:custDataLst>
                  <p:tags r:id="rId6"/>
                </p:custDataLst>
              </p:nvPr>
            </p:nvSpPr>
            <p:spPr>
              <a:xfrm>
                <a:off x="7494915" y="2732025"/>
                <a:ext cx="2613642" cy="752238"/>
              </a:xfrm>
              <a:prstGeom prst="rect">
                <a:avLst/>
              </a:prstGeom>
            </p:spPr>
            <p:txBody>
              <a:bodyPr wrap="square" lIns="0" tIns="0" rIns="0" bIns="0" anchor="b" anchorCtr="1">
                <a:normAutofit/>
              </a:bodyPr>
              <a:lstStyle/>
              <a:p>
                <a:pPr algn="ctr"/>
                <a:r>
                  <a:rPr lang="zh-CN" altLang="en-US" b="1" dirty="0">
                    <a:effectLst/>
                    <a:cs typeface="+mn-ea"/>
                    <a:sym typeface="+mn-lt"/>
                  </a:rPr>
                  <a:t>打包为可执行文件</a:t>
                </a:r>
                <a:endParaRPr lang="en-US" dirty="0"/>
              </a:p>
            </p:txBody>
          </p:sp>
          <p:sp>
            <p:nvSpPr>
              <p:cNvPr id="28" name="Text3" descr="05ae26f1-4e81-411d-9472-3f7007725e2a"/>
              <p:cNvSpPr/>
              <p:nvPr>
                <p:custDataLst>
                  <p:tags r:id="rId7"/>
                </p:custDataLst>
              </p:nvPr>
            </p:nvSpPr>
            <p:spPr>
              <a:xfrm>
                <a:off x="7415812" y="3562366"/>
                <a:ext cx="2613645" cy="2328705"/>
              </a:xfrm>
              <a:prstGeom prst="rect">
                <a:avLst/>
              </a:prstGeom>
            </p:spPr>
            <p:txBody>
              <a:bodyPr wrap="square" lIns="0" tIns="0" rIns="0" bIns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进入指定目录，运行打包脚本生成exe文件。</a:t>
                </a:r>
                <a:endParaRPr lang="en-US" dirty="0"/>
              </a:p>
            </p:txBody>
          </p:sp>
        </p:grp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rcRect l="929" t="2211"/>
          <a:stretch>
            <a:fillRect/>
          </a:stretch>
        </p:blipFill>
        <p:spPr>
          <a:xfrm>
            <a:off x="1317625" y="4237990"/>
            <a:ext cx="9823450" cy="18535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bcb02ba-3424-4405-bb18-38f6e4d744f7"/>
          <p:cNvSpPr>
            <a:spLocks noGrp="1"/>
          </p:cNvSpPr>
          <p:nvPr>
            <p:ph type="title" hasCustomPrompt="1"/>
          </p:nvPr>
        </p:nvSpPr>
        <p:spPr>
          <a:xfrm>
            <a:off x="1992630" y="0"/>
            <a:ext cx="8458200" cy="1371600"/>
          </a:xfrm>
        </p:spPr>
        <p:txBody>
          <a:bodyPr/>
          <a:lstStyle/>
          <a:p>
            <a:r>
              <a:rPr lang="zh-CN" altLang="en-US" dirty="0"/>
              <a:t>checkline_requirePython.exe</a:t>
            </a:r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6360" y="1509395"/>
            <a:ext cx="7753350" cy="49244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bd56d51e-3c3c-47b5-ada2-a1674c1cf11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  <a:endParaRPr lang="en-US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75.36385826771647,&quot;left&quot;:52,&quot;top&quot;:88.5,&quot;width&quot;:855}"/>
</p:tagLst>
</file>

<file path=ppt/tags/tag2.xml><?xml version="1.0" encoding="utf-8"?>
<p:tagLst xmlns:p="http://schemas.openxmlformats.org/presentationml/2006/main">
  <p:tag name="KSO_WM_DIAGRAM_VIRTUALLY_FRAME" val="{&quot;height&quot;:375.36385826771647,&quot;left&quot;:52,&quot;top&quot;:88.5,&quot;width&quot;:855}"/>
</p:tagLst>
</file>

<file path=ppt/tags/tag3.xml><?xml version="1.0" encoding="utf-8"?>
<p:tagLst xmlns:p="http://schemas.openxmlformats.org/presentationml/2006/main">
  <p:tag name="KSO_WM_DIAGRAM_VIRTUALLY_FRAME" val="{&quot;height&quot;:375.36385826771647,&quot;left&quot;:52,&quot;top&quot;:88.5,&quot;width&quot;:855}"/>
</p:tagLst>
</file>

<file path=ppt/tags/tag4.xml><?xml version="1.0" encoding="utf-8"?>
<p:tagLst xmlns:p="http://schemas.openxmlformats.org/presentationml/2006/main">
  <p:tag name="KSO_WM_DIAGRAM_VIRTUALLY_FRAME" val="{&quot;height&quot;:375.36385826771647,&quot;left&quot;:52,&quot;top&quot;:88.5,&quot;width&quot;:855}"/>
</p:tagLst>
</file>

<file path=ppt/tags/tag5.xml><?xml version="1.0" encoding="utf-8"?>
<p:tagLst xmlns:p="http://schemas.openxmlformats.org/presentationml/2006/main">
  <p:tag name="KSO_WM_DIAGRAM_VIRTUALLY_FRAME" val="{&quot;height&quot;:375.36385826771647,&quot;left&quot;:52,&quot;top&quot;:88.5,&quot;width&quot;:855}"/>
</p:tagLst>
</file>

<file path=ppt/tags/tag6.xml><?xml version="1.0" encoding="utf-8"?>
<p:tagLst xmlns:p="http://schemas.openxmlformats.org/presentationml/2006/main">
  <p:tag name="KSO_WM_DIAGRAM_VIRTUALLY_FRAME" val="{&quot;height&quot;:375.36385826771647,&quot;left&quot;:52,&quot;top&quot;:88.5,&quot;width&quot;:855}"/>
</p:tagLst>
</file>

<file path=ppt/tags/tag7.xml><?xml version="1.0" encoding="utf-8"?>
<p:tagLst xmlns:p="http://schemas.openxmlformats.org/presentationml/2006/main">
  <p:tag name="KSO_WM_DIAGRAM_VIRTUALLY_FRAME" val="{&quot;height&quot;:375.36385826771647,&quot;left&quot;:52,&quot;top&quot;:88.5,&quot;width&quot;:855}"/>
</p:tagLst>
</file>

<file path=ppt/tags/tag8.xml><?xml version="1.0" encoding="utf-8"?>
<p:tagLst xmlns:p="http://schemas.openxmlformats.org/presentationml/2006/main">
  <p:tag name="AS_NET" val="8.0.2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12454"/>
      </a:accent1>
      <a:accent2>
        <a:srgbClr val="538DDA"/>
      </a:accent2>
      <a:accent3>
        <a:srgbClr val="A6CBFE"/>
      </a:accent3>
      <a:accent4>
        <a:srgbClr val="FCCB02"/>
      </a:accent4>
      <a:accent5>
        <a:srgbClr val="A6FFD4"/>
      </a:accent5>
      <a:accent6>
        <a:srgbClr val="768394"/>
      </a:accent6>
      <a:hlink>
        <a:srgbClr val="4276AA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674</Words>
  <Application>WPS 演示</Application>
  <PresentationFormat>宽屏</PresentationFormat>
  <Paragraphs>94</Paragraphs>
  <Slides>8</Slides>
  <Notes>7</Notes>
  <HiddenSlides>7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等线</vt:lpstr>
      <vt:lpstr>Designed by iSlide</vt:lpstr>
      <vt:lpstr>安全基线检查工具</vt:lpstr>
      <vt:lpstr>工具概述</vt:lpstr>
      <vt:lpstr>工具详情</vt:lpstr>
      <vt:lpstr>主要功能</vt:lpstr>
      <vt:lpstr>使用方法</vt:lpstr>
      <vt:lpstr>脚本更新与重新打包</vt:lpstr>
      <vt:lpstr>checkline_requirePython.exe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弗洛伊德</cp:lastModifiedBy>
  <cp:revision>26</cp:revision>
  <cp:lastPrinted>2025-03-19T05:19:00Z</cp:lastPrinted>
  <dcterms:created xsi:type="dcterms:W3CDTF">2025-03-19T05:19:00Z</dcterms:created>
  <dcterms:modified xsi:type="dcterms:W3CDTF">2025-03-19T06:00:14Z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d0d3c1bf-4466-47c2-81c9-e39b42a051a8</vt:lpwstr>
  </property>
  <property fmtid="{D5CDD505-2E9C-101B-9397-08002B2CF9AE}" pid="3" name="ICV">
    <vt:lpwstr>EF56376CFA6A3885C952DA676C08D54A_42</vt:lpwstr>
  </property>
  <property fmtid="{D5CDD505-2E9C-101B-9397-08002B2CF9AE}" pid="4" name="KSOProductBuildVer">
    <vt:lpwstr>2052-12.1.0.19770</vt:lpwstr>
  </property>
</Properties>
</file>